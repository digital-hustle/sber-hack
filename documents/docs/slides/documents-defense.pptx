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 слота модели</c:v>
                </c:pt>
              </c:strCache>
            </c:strRef>
          </c:tx>
          <c:spPr>
            <a:solidFill>
              <a:srgbClr val="2783DE"/>
            </a:solidFill>
            <a:ln>
              <a:solidFill>
                <a:srgbClr val="2783DE"/>
              </a:solidFill>
            </a:ln>
          </c:spPr>
          <c:cat>
            <c:strRef>
              <c:f>Sheet1!$A$2:$A$5</c:f>
              <c:strCache>
                <c:ptCount val="4"/>
                <c:pt idx="0">
                  <c:v>1 док/мин</c:v>
                </c:pt>
                <c:pt idx="1">
                  <c:v>2,5 док/мин</c:v>
                </c:pt>
                <c:pt idx="2">
                  <c:v>4 док/мин</c:v>
                </c:pt>
                <c:pt idx="3">
                  <c:v>5,5 док/мин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105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 слота модели</c:v>
                </c:pt>
              </c:strCache>
            </c:strRef>
          </c:tx>
          <c:spPr>
            <a:solidFill>
              <a:srgbClr val="C4C2BD"/>
            </a:solidFill>
            <a:ln>
              <a:solidFill>
                <a:srgbClr val="C4C2BD"/>
              </a:solidFill>
            </a:ln>
          </c:spPr>
          <c:cat>
            <c:strRef>
              <c:f>Sheet1!$A$2:$A$5</c:f>
              <c:strCache>
                <c:ptCount val="4"/>
                <c:pt idx="0">
                  <c:v>1 док/мин</c:v>
                </c:pt>
                <c:pt idx="1">
                  <c:v>2,5 док/мин</c:v>
                </c:pt>
                <c:pt idx="2">
                  <c:v>4 док/мин</c:v>
                </c:pt>
                <c:pt idx="3">
                  <c:v>5,5 док/мин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title>
          <c:tx>
            <c:rich>
              <a:bodyPr/>
              <a:lstStyle/>
              <a:p>
                <a:r>
                  <a:t>Ожидание, с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КЕЙС «ДОКУМЕНТЫ» · СБЕР ХАКАТОН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Документы соискателя: от фото до проверенных полей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D7A75"/>
                </a:solidFill>
                <a:latin typeface="Arial"/>
              </a:rPr>
              <a:t>Соискатель снимает документы телефоном, система сама их читает и проверяет, оператор смотрит только сомнительное.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ПРОБЛЕМА</a:t>
            </a:r>
          </a:p>
        </p:txBody>
      </p:sp>
      <p:sp>
        <p:nvSpPr>
          <p:cNvPr id="3" name="Claim accent"/>
          <p:cNvSpPr/>
          <p:nvPr/>
        </p:nvSpPr>
        <p:spPr>
          <a:xfrm>
            <a:off x="685800" y="2381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2890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304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 u="none">
                <a:solidFill>
                  <a:srgbClr val="2C2C2B"/>
                </a:solidFill>
                <a:latin typeface="Arial"/>
              </a:rPr>
              <a:t>Документы шлют фото в чат и перепечатывают руками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95900"/>
            <a:ext cx="781049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7D7A75"/>
                </a:solidFill>
                <a:latin typeface="Arial"/>
              </a:rPr>
              <a:t>Плохой снимок выясняется через дни.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КОНВЕЙЕР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Файл принят сразу, разбор идёт сам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5000" y="3448050"/>
            <a:ext cx="83820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6" name="Process step 1 marker"/>
          <p:cNvSpPr/>
          <p:nvPr/>
        </p:nvSpPr>
        <p:spPr>
          <a:xfrm>
            <a:off x="2324100" y="3200400"/>
            <a:ext cx="495299" cy="49529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41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Приём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Ответ сразу, файл зашифрован</a:t>
            </a:r>
          </a:p>
        </p:txBody>
      </p:sp>
      <p:sp>
        <p:nvSpPr>
          <p:cNvPr id="10" name="Process step 2 marker"/>
          <p:cNvSpPr/>
          <p:nvPr/>
        </p:nvSpPr>
        <p:spPr>
          <a:xfrm>
            <a:off x="5848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8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Разбор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Текст, вид, поля — сами</a:t>
            </a:r>
          </a:p>
        </p:txBody>
      </p:sp>
      <p:sp>
        <p:nvSpPr>
          <p:cNvPr id="14" name="Process step 3 marker"/>
          <p:cNvSpPr/>
          <p:nvPr/>
        </p:nvSpPr>
        <p:spPr>
          <a:xfrm>
            <a:off x="937260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Проверки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Суммы, MRZ, сроки — кодом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Синтетический паспорт из набора ev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57970"/>
            <a:ext cx="4457700" cy="3141959"/>
          </a:xfrm>
          <a:prstGeom prst="roundRect">
            <a:avLst>
              <a:gd name="adj" fmla="val 3637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МОДЕЛЬ ИЗВЛЕКАЕТ, КОД ПРОВЕРЯЕТ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Модели одной не верим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Номер сверяется с MRZ, контрольные цифры считает код. Значение, которого нет на скане, получает штраф.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МАТМОДЕЛЬ · УВЕРЕННОСТЬ ПОЛЯ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c = 0,4·модель + 0,3·OCR + 0,3·проверки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Порог τ = 0,8: всё, что ниже, или с проваленной проверкой, — наверх к оператору.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0"/>
                <a:gridCol w="1333500"/>
                <a:gridCol w="1333500"/>
                <a:gridCol w="1524000"/>
                <a:gridCol w="1333500"/>
                <a:gridCol w="21526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Поле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OCR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Проверки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Итог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СНИЛС, сумма сошлась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0,915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автоматически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СНИЛС, сумма не сошлась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0,615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оператору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ФИО, без проверок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0,825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автоматически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ФИО, плохо распознано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0,40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0,690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оператору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МАТМОДЕЛЬ · ОЧЕРЕДЬ M/M/C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Два слота модели держат 4 документа в минуту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Эрланг C, μ = 3 док/мин. Синие — 2 слота, серые — 3.</a:t>
            </a:r>
          </a:p>
        </p:txBody>
      </p:sp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685800" y="2819400"/>
          <a:ext cx="108204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УСТОЙЧИВОСТЬ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Рестарт и падение модели не страшны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Задания не теряются.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РЕСТАРТ DOCPROC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задание доделано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МОДЕЛЬ УПАЛА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ждём, затем догоняем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ПОВТОР СОБЫТИЯ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одно задание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ПЕРЕГРУЗКА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семафор и выключатель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БЕЗОПАСНОСТЬ И ПДН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«Злоумышленник» запускается в CI, а не раз перед защитой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scripts/attack.sh гоняет чек-лист на поднятом стенде при каждом изменении инфраструктуры.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0"/>
                <a:gridCol w="58674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Атака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Ответ системы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Ссылка на карточку или скан без входа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401, сервис сам проверяет JWT и роль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Чужой ключ заявки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404, ключ привязан к одной заявке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Токен alg=none, чужой issuer или aud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Внутренние ручки снаружи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404 до проверки токена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Подбор кода возврата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429 и Retry-After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ИНЖЕНЕРИЯ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Проверяется автоматически на каждом PR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3143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85800" y="3390900"/>
            <a:ext cx="230505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783DE"/>
                </a:solidFill>
                <a:latin typeface="Arial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8650"/>
            <a:ext cx="230505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тестов бэкенда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24400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4250" y="3390900"/>
            <a:ext cx="230505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4250" y="4438650"/>
            <a:ext cx="230505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синтетических документа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250" y="4724400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3390900"/>
            <a:ext cx="230505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4438650"/>
            <a:ext cx="230505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кодов сверено с API.md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4724400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1150" y="3390900"/>
            <a:ext cx="230505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1150" y="4438650"/>
            <a:ext cx="230505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команда для стенда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1150" y="4724400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ИТОГ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Что важно запомнить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О плохом снимке соискатель узнаёт сразу.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Оператор смотрит только сомнительные поля.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Модель локальная или облачная — одной настройкой.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Веса экспертные; калибровка — на открытом наборе.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documents-defense</dc:title>
  <dc:subject/>
  <dc:creator>Notion AI</dc:creator>
  <cp:keywords/>
  <dc:description>generated using python-pptx</dc:description>
  <cp:lastModifiedBy>Notion AI</cp:lastModifiedBy>
  <cp:revision>1</cp:revision>
  <dcterms:created xsi:type="dcterms:W3CDTF">2026-10-09T14:48:26Z</dcterms:created>
  <dcterms:modified xsi:type="dcterms:W3CDTF">2026-10-09T14:48:26Z</dcterms:modified>
  <cp:category/>
</cp:coreProperties>
</file>